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0080625" cy="567055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929F298-D702-4129-9336-0E972F73B15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1143000" y="685800"/>
            <a:ext cx="4571640" cy="3428640"/>
          </a:xfrm>
          <a:prstGeom prst="rect">
            <a:avLst/>
          </a:prstGeom>
          <a:ln w="0">
            <a:noFill/>
          </a:ln>
        </p:spPr>
      </p:sp>
      <p:sp>
        <p:nvSpPr>
          <p:cNvPr id="12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Mục tiêu buổi học: nối tiếp Day 4. Hôm trước nhóm đã tạo hồ sơ trong ./docs; hôm nay hồ sơ đó phải biến thành code chạy được và phải chứng minh được chất lượng. Nói rõ ngay từ đầu: không chấm code đẹp, chấm bằng chứng (test, log CI, PR review).</a:t>
            </a:r>
            <a:endParaRPr lang="en-US" sz="2000" b="0" u="none" strike="noStrike">
              <a:solidFill>
                <a:srgbClr val="000000"/>
              </a:solidFill>
              <a:effectLst/>
              <a:uFillTx/>
              <a:latin typeface="Arial"/>
            </a:endParaRPr>
          </a:p>
        </p:txBody>
      </p:sp>
      <p:sp>
        <p:nvSpPr>
          <p:cNvPr id="12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536F69A-6951-4024-8325-CDE5D4F6E03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sldImg"/>
          </p:nvPr>
        </p:nvSpPr>
        <p:spPr>
          <a:xfrm>
            <a:off x="1143000" y="685800"/>
            <a:ext cx="4571640" cy="3428640"/>
          </a:xfrm>
          <a:prstGeom prst="rect">
            <a:avLst/>
          </a:prstGeom>
          <a:ln w="0">
            <a:noFill/>
          </a:ln>
        </p:spPr>
      </p:sp>
      <p:sp>
        <p:nvSpPr>
          <p:cNvPr id="12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Nhắc lại đúng bối cảnh Day 4, không mở dự án mới. Chiếu nhanh cấu trúc ./docs để học viên thấy đầu vào. Nhấn mạnh: mọi câu hỏi về phạm vi quay về tài liệu, không quay về trí nhớ của ai. Nếu nhóm chưa có AC rõ, việc đầu tiên hôm nay là sửa AC, không phải viết code.</a:t>
            </a:r>
            <a:endParaRPr lang="en-US" sz="2000" b="0" u="none" strike="noStrike">
              <a:solidFill>
                <a:srgbClr val="000000"/>
              </a:solidFill>
              <a:effectLst/>
              <a:uFillTx/>
              <a:latin typeface="Arial"/>
            </a:endParaRPr>
          </a:p>
        </p:txBody>
      </p:sp>
      <p:sp>
        <p:nvSpPr>
          <p:cNvPr id="13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E6616F-A7AC-4F95-AF82-F1E88DBB2B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1143000" y="685800"/>
            <a:ext cx="4571640" cy="3428640"/>
          </a:xfrm>
          <a:prstGeom prst="rect">
            <a:avLst/>
          </a:prstGeom>
          <a:ln w="0">
            <a:noFill/>
          </a:ln>
        </p:spPr>
      </p:sp>
      <p:sp>
        <p:nvSpPr>
          <p:cNvPr id="13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Bản đồ của cả ngày. Specify = đọc US + AC và viết test trước; Generate = code + test; Verify = lint, test, CI, review; Refine = sửa thay đổi nhỏ nhất theo bằng chứng. Điểm khác biệt so với ‘prompt rồi lấy code’: vòng lặp không kết thúc bằng cảm giác, mà bằng log xanh.</a:t>
            </a:r>
            <a:endParaRPr lang="en-US" sz="2000" b="0" u="none" strike="noStrike">
              <a:solidFill>
                <a:srgbClr val="000000"/>
              </a:solidFill>
              <a:effectLst/>
              <a:uFillTx/>
              <a:latin typeface="Arial"/>
            </a:endParaRPr>
          </a:p>
        </p:txBody>
      </p:sp>
      <p:sp>
        <p:nvSpPr>
          <p:cNvPr id="13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727339-06C5-417D-8095-DA14A411ECB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1143000" y="685800"/>
            <a:ext cx="4571640" cy="3428640"/>
          </a:xfrm>
          <a:prstGeom prst="rect">
            <a:avLst/>
          </a:prstGeom>
          <a:ln w="0">
            <a:noFill/>
          </a:ln>
        </p:spPr>
      </p:sp>
      <p:sp>
        <p:nvSpPr>
          <p:cNvPr id="13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Ánh xạ tháp sang code: L0 = lint/CI; L1 = agent critic theo rubric; L2 = technical review (PR, CODEOWNERS); L3 = inspection cho diff rủi ro cao; L4 = verification (test khớp AC) và validation (demo với stakeholder). Nhắc lại nguyên tắc: lớp rẻ chạy trước, mỗi lớp phải để lại artifact.</a:t>
            </a:r>
            <a:endParaRPr lang="en-US" sz="2000" b="0" u="none" strike="noStrike">
              <a:solidFill>
                <a:srgbClr val="000000"/>
              </a:solidFill>
              <a:effectLst/>
              <a:uFillTx/>
              <a:latin typeface="Arial"/>
            </a:endParaRPr>
          </a:p>
        </p:txBody>
      </p:sp>
      <p:sp>
        <p:nvSpPr>
          <p:cNvPr id="13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89BFFC8-D14C-4983-8809-866FBD636B6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1143000" y="685800"/>
            <a:ext cx="4571640" cy="3428640"/>
          </a:xfrm>
          <a:prstGeom prst="rect">
            <a:avLst/>
          </a:prstGeom>
          <a:ln w="0">
            <a:noFill/>
          </a:ln>
        </p:spPr>
      </p:sp>
      <p:sp>
        <p:nvSpPr>
          <p:cNvPr id="13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Chia sẻ cách chốt phạm vi: chọn 2 story đi hết luồng thay vì 10 story dở dang. Vertical slice nghĩa là mỗi lần xong là demo được, không phải ‘xong 3 tầng, chưa nối được’. Yêu cầu ghi mã US/FR trong commit để traceability không phải làm lại cuối ngày.</a:t>
            </a:r>
            <a:endParaRPr lang="en-US" sz="2000" b="0" u="none" strike="noStrike">
              <a:solidFill>
                <a:srgbClr val="000000"/>
              </a:solidFill>
              <a:effectLst/>
              <a:uFillTx/>
              <a:latin typeface="Arial"/>
            </a:endParaRPr>
          </a:p>
        </p:txBody>
      </p:sp>
      <p:sp>
        <p:nvSpPr>
          <p:cNvPr id="13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1A8B16F-CAA1-45A1-A78B-CA90DF0CF5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sldImg"/>
          </p:nvPr>
        </p:nvSpPr>
        <p:spPr>
          <a:xfrm>
            <a:off x="1143000" y="685800"/>
            <a:ext cx="4571640" cy="3428640"/>
          </a:xfrm>
          <a:prstGeom prst="rect">
            <a:avLst/>
          </a:prstGeom>
          <a:ln w="0">
            <a:noFill/>
          </a:ln>
        </p:spPr>
      </p:sp>
      <p:sp>
        <p:nvSpPr>
          <p:cNvPr id="14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Đây là phần ‘cấu hình agent như một thành viên nhóm’ của Day 2, áp vào dự án thật. Nhấn mạnh giới hạn quyền: agent không được sửa đặc tả đã baseline để làm test xanh. Nếu agent sửa docs, đó là thay đổi phạm vi — phải qua review như một thay đổi yêu cầu.</a:t>
            </a:r>
            <a:endParaRPr lang="en-US" sz="2000" b="0" u="none" strike="noStrike">
              <a:solidFill>
                <a:srgbClr val="000000"/>
              </a:solidFill>
              <a:effectLst/>
              <a:uFillTx/>
              <a:latin typeface="Arial"/>
            </a:endParaRPr>
          </a:p>
        </p:txBody>
      </p:sp>
      <p:sp>
        <p:nvSpPr>
          <p:cNvPr id="14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248E37-1B93-4708-B460-FA6EF0E24D7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1143000" y="685800"/>
            <a:ext cx="4571640" cy="3428640"/>
          </a:xfrm>
          <a:prstGeom prst="rect">
            <a:avLst/>
          </a:prstGeom>
          <a:ln w="0">
            <a:noFill/>
          </a:ln>
        </p:spPr>
      </p:sp>
      <p:sp>
        <p:nvSpPr>
          <p:cNvPr id="14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L0 là lớp rẻ nhất và phải chạy mọi commit. Đừng đưa lỗi lint vào cuộc họp review. Coverage 70% là sàn, không phải mục tiêu thi đua; module lõi (retrieval, citation) nên cao hơn. Nhấn mạnh: cổng phải nhanh (&lt;10 phút) và thông báo lỗi đọc được, nếu không người ta sẽ tắt.</a:t>
            </a:r>
            <a:endParaRPr lang="en-US" sz="2000" b="0" u="none" strike="noStrike">
              <a:solidFill>
                <a:srgbClr val="000000"/>
              </a:solidFill>
              <a:effectLst/>
              <a:uFillTx/>
              <a:latin typeface="Arial"/>
            </a:endParaRPr>
          </a:p>
        </p:txBody>
      </p:sp>
      <p:sp>
        <p:nvSpPr>
          <p:cNvPr id="14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0DEAACB-449D-451D-9E2A-E12B9E5AFF1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sldImg"/>
          </p:nvPr>
        </p:nvSpPr>
        <p:spPr>
          <a:xfrm>
            <a:off x="1143000" y="685800"/>
            <a:ext cx="4571640" cy="3428640"/>
          </a:xfrm>
          <a:prstGeom prst="rect">
            <a:avLst/>
          </a:prstGeom>
          <a:ln w="0">
            <a:noFill/>
          </a:ln>
        </p:spPr>
      </p:sp>
      <p:sp>
        <p:nvSpPr>
          <p:cNvPr id="14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L1 nhanh, rộng, rẻ nhưng có thể ‘đồng thuận giả’ và bỏ sót lỗi tinh vi. L2 là nơi con người chịu trách nhiệm. Giới hạn 400 dòng/PR để review thật sự được, không phải bấm approve. Câu hỏi trung tâm của L2: thay đổi này chứng minh AC nào, và ai sẽ bảo trì nó?</a:t>
            </a:r>
            <a:endParaRPr lang="en-US" sz="2000" b="0" u="none" strike="noStrike">
              <a:solidFill>
                <a:srgbClr val="000000"/>
              </a:solidFill>
              <a:effectLst/>
              <a:uFillTx/>
              <a:latin typeface="Arial"/>
            </a:endParaRPr>
          </a:p>
        </p:txBody>
      </p:sp>
      <p:sp>
        <p:nvSpPr>
          <p:cNvPr id="14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8F2B1E-454E-4A8E-9A72-AF8C7B1254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1143000" y="685800"/>
            <a:ext cx="4571640" cy="3428640"/>
          </a:xfrm>
          <a:prstGeom prst="rect">
            <a:avLst/>
          </a:prstGeom>
          <a:ln w="0">
            <a:noFill/>
          </a:ln>
        </p:spPr>
      </p:sp>
      <p:sp>
        <p:nvSpPr>
          <p:cNvPr id="15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Dùng cùng rubric cho agent và người để tránh hai thước đo. Điểm 0 ở An toàn hoặc Đúng AC luôn là blocker. Khuyến khích review theo thứ tự: AC → test → an toàn → thiết kế → dễ đọc. Rubric không thay phán đoán, nhưng buộc mọi nhận xét phải có bằng chứng.</a:t>
            </a:r>
            <a:endParaRPr lang="en-US" sz="2000" b="0" u="none" strike="noStrike">
              <a:solidFill>
                <a:srgbClr val="000000"/>
              </a:solidFill>
              <a:effectLst/>
              <a:uFillTx/>
              <a:latin typeface="Arial"/>
            </a:endParaRPr>
          </a:p>
        </p:txBody>
      </p:sp>
      <p:sp>
        <p:nvSpPr>
          <p:cNvPr id="15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DA001B6-DDF5-4ADA-B343-D50033B3D06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1143000" y="685800"/>
            <a:ext cx="4571640" cy="3428640"/>
          </a:xfrm>
          <a:prstGeom prst="rect">
            <a:avLst/>
          </a:prstGeom>
          <a:ln w="0">
            <a:noFill/>
          </a:ln>
        </p:spPr>
      </p:sp>
      <p:sp>
        <p:nvSpPr>
          <p:cNvPr id="15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Giải thích mutation score: cố tình làm hỏng code, test có bắt được không. Coverage chỉ nói ‘dòng này có chạy qua’, không nói ‘có kiểm tra đúng’. Kể ví dụ agent sửa assertion thành expect(true) để CI xanh — đây là lý do phải review cả tests/.</a:t>
            </a:r>
            <a:endParaRPr lang="en-US" sz="2000" b="0" u="none" strike="noStrike">
              <a:solidFill>
                <a:srgbClr val="000000"/>
              </a:solidFill>
              <a:effectLst/>
              <a:uFillTx/>
              <a:latin typeface="Arial"/>
            </a:endParaRPr>
          </a:p>
        </p:txBody>
      </p:sp>
      <p:sp>
        <p:nvSpPr>
          <p:cNvPr id="15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BFB7B25-4401-4030-B2E8-EF069BD856A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1143000" y="685800"/>
            <a:ext cx="4571640" cy="3428640"/>
          </a:xfrm>
          <a:prstGeom prst="rect">
            <a:avLst/>
          </a:prstGeom>
          <a:ln w="0">
            <a:noFill/>
          </a:ln>
        </p:spPr>
      </p:sp>
      <p:sp>
        <p:nvSpPr>
          <p:cNvPr id="15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Đọc toàn bộ danh sách này trước khi các nhóm bắt đầu, và dán nó lên bảng. Điểm hay bị bỏ: README chạy được từ máy sạch, traceability cập nhật, demo có trích nguồn đúng. Demo 5 phút là bài kiểm tra validation rẻ nhất: người dùng thật hỏi, câu trả lời có nguồn.</a:t>
            </a:r>
            <a:endParaRPr lang="en-US" sz="2000" b="0" u="none" strike="noStrike">
              <a:solidFill>
                <a:srgbClr val="000000"/>
              </a:solidFill>
              <a:effectLst/>
              <a:uFillTx/>
              <a:latin typeface="Arial"/>
            </a:endParaRPr>
          </a:p>
        </p:txBody>
      </p:sp>
      <p:sp>
        <p:nvSpPr>
          <p:cNvPr id="15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FD53E22-A2C8-4DC9-A97D-EC280EF0F75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1143000" y="685800"/>
            <a:ext cx="4571640" cy="3428640"/>
          </a:xfrm>
          <a:prstGeom prst="rect">
            <a:avLst/>
          </a:prstGeom>
          <a:ln w="0">
            <a:noFill/>
          </a:ln>
        </p:spPr>
      </p:sp>
      <p:sp>
        <p:nvSpPr>
          <p:cNvPr id="15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Nhắc học viên dùng lại checklist của Day 4 và bổ sung mục code review. Các chuẩn nêu ở đây là bản diễn giải phục vụ giảng dạy; khi áp dụng thật cần đối chiếu bản gốc.</a:t>
            </a:r>
            <a:endParaRPr lang="en-US" sz="2000" b="0" u="none" strike="noStrike">
              <a:solidFill>
                <a:srgbClr val="000000"/>
              </a:solidFill>
              <a:effectLst/>
              <a:uFillTx/>
              <a:latin typeface="Arial"/>
            </a:endParaRPr>
          </a:p>
        </p:txBody>
      </p:sp>
      <p:sp>
        <p:nvSpPr>
          <p:cNvPr id="16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3900E98-CF17-443A-935B-F03C878EF0E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CADE603-001D-41D3-9F35-843A70428C8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BD7EF9-4F2B-415F-A940-693B0CD31F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3"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4"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493E359-CF07-4F08-9061-CEE12DF5EB0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9"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2D9BE6A-8A9E-410D-87A4-DEEAEAC5A3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3"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E0C24E2-83A7-4DC6-8845-5DFA62C4986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8"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30"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E1F8331-116F-4C4A-B7AC-B6FFD3F55D0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5"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6"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7"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8"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60F31AA-6135-4F58-87D5-417DCBC7650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2"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D1E0817-C350-41A9-BFD0-FF052E2E1BF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F875942-C72C-4B54-ADE1-AA591D4315C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49"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0"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1"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ACB83AA-E5EC-4E51-BB12-B38C5C43C8B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5"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6"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7"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CC80D96-E5BB-4825-9677-587A1D8B9AB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Picture 1" descr="vti-cover-bg.jpeg"/>
          <p:cNvPicPr/>
          <p:nvPr/>
        </p:nvPicPr>
        <p:blipFill>
          <a:blip r:embed="rId1"/>
          <a:stretch/>
        </p:blipFill>
        <p:spPr>
          <a:xfrm>
            <a:off x="0" y="0"/>
            <a:ext cx="10058040" cy="5657400"/>
          </a:xfrm>
          <a:prstGeom prst="rect">
            <a:avLst/>
          </a:prstGeom>
          <a:noFill/>
          <a:ln w="0">
            <a:noFill/>
          </a:ln>
        </p:spPr>
      </p:pic>
      <p:pic>
        <p:nvPicPr>
          <p:cNvPr id="67" name="Picture 2" descr="vti-logo.png"/>
          <p:cNvPicPr/>
          <p:nvPr/>
        </p:nvPicPr>
        <p:blipFill>
          <a:blip r:embed="rId2"/>
          <a:stretch/>
        </p:blipFill>
        <p:spPr>
          <a:xfrm>
            <a:off x="8001000" y="372600"/>
            <a:ext cx="1964880" cy="541440"/>
          </a:xfrm>
          <a:prstGeom prst="rect">
            <a:avLst/>
          </a:prstGeom>
          <a:noFill/>
          <a:ln w="0">
            <a:noFill/>
          </a:ln>
        </p:spPr>
      </p:pic>
      <p:sp>
        <p:nvSpPr>
          <p:cNvPr id="68" name="TextBox 3"/>
          <p:cNvSpPr/>
          <p:nvPr/>
        </p:nvSpPr>
        <p:spPr>
          <a:xfrm>
            <a:off x="777240" y="1874520"/>
            <a:ext cx="8503560" cy="1691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000" b="1" u="none" strike="noStrike">
                <a:solidFill>
                  <a:srgbClr val="1F4B70"/>
                </a:solidFill>
                <a:effectLst/>
                <a:uFillTx/>
                <a:latin typeface="Calibri Light"/>
                <a:ea typeface="Calibri Light"/>
              </a:rPr>
              <a:t>Thực hành: Agentic SDLC</a:t>
            </a:r>
            <a:endParaRPr lang="en-US" sz="4000" b="0" u="none" strike="noStrike">
              <a:solidFill>
                <a:srgbClr val="000000"/>
              </a:solidFill>
              <a:effectLst/>
              <a:uFillTx/>
              <a:latin typeface="Arial"/>
            </a:endParaRPr>
          </a:p>
          <a:p>
            <a:pPr defTabSz="457200">
              <a:lnSpc>
                <a:spcPct val="100000"/>
              </a:lnSpc>
              <a:spcBef>
                <a:spcPts val="799"/>
              </a:spcBef>
            </a:pPr>
            <a:r>
              <a:rPr lang="en-US" sz="2700" b="1" u="none" strike="noStrike">
                <a:solidFill>
                  <a:srgbClr val="006BB9"/>
                </a:solidFill>
                <a:effectLst/>
                <a:uFillTx/>
                <a:latin typeface="Calibri"/>
                <a:ea typeface="Calibri"/>
              </a:rPr>
              <a:t>Day 5: Agentic AI trong pha Phát triển mã nguồn &amp; Đánh giá chất lượng</a:t>
            </a:r>
            <a:endParaRPr lang="en-US" sz="2700" b="0" u="none" strike="noStrike">
              <a:solidFill>
                <a:srgbClr val="000000"/>
              </a:solidFill>
              <a:effectLst/>
              <a:uFillTx/>
              <a:latin typeface="Arial"/>
            </a:endParaRPr>
          </a:p>
          <a:p>
            <a:pPr defTabSz="457200">
              <a:lnSpc>
                <a:spcPct val="100000"/>
              </a:lnSpc>
              <a:spcBef>
                <a:spcPts val="901"/>
              </a:spcBef>
            </a:pPr>
            <a:r>
              <a:rPr lang="en-US" sz="1800" b="0" i="1" u="none" strike="noStrike">
                <a:solidFill>
                  <a:srgbClr val="556677"/>
                </a:solidFill>
                <a:effectLst/>
                <a:uFillTx/>
                <a:latin typeface="Calibri"/>
                <a:ea typeface="Calibri"/>
              </a:rPr>
              <a:t>Từ ./docs đến code chạy được — có kiểm chứng, có bằng chứng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Picture 3" descr="vti-cover-bg.jpeg"/>
          <p:cNvPicPr/>
          <p:nvPr/>
        </p:nvPicPr>
        <p:blipFill>
          <a:blip r:embed="rId1"/>
          <a:stretch/>
        </p:blipFill>
        <p:spPr>
          <a:xfrm>
            <a:off x="0" y="0"/>
            <a:ext cx="10079640" cy="5657400"/>
          </a:xfrm>
          <a:prstGeom prst="rect">
            <a:avLst/>
          </a:prstGeom>
          <a:noFill/>
          <a:ln w="0">
            <a:noFill/>
          </a:ln>
        </p:spPr>
      </p:pic>
      <p:sp>
        <p:nvSpPr>
          <p:cNvPr id="70"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Dự án</a:t>
            </a:r>
            <a:endParaRPr lang="en-US" sz="4400" b="0" u="none" strike="noStrike">
              <a:solidFill>
                <a:schemeClr val="dk1"/>
              </a:solidFill>
              <a:effectLst/>
              <a:uFillTx/>
              <a:latin typeface="Calibri"/>
            </a:endParaRPr>
          </a:p>
        </p:txBody>
      </p:sp>
      <p:sp>
        <p:nvSpPr>
          <p:cNvPr id="71" name="PlaceHolder 2"/>
          <p:cNvSpPr>
            <a:spLocks noGrp="1"/>
          </p:cNvSpPr>
          <p:nvPr>
            <p:ph/>
          </p:nvPr>
        </p:nvSpPr>
        <p:spPr>
          <a:xfrm>
            <a:off x="502920" y="1325880"/>
            <a:ext cx="9070560" cy="4160160"/>
          </a:xfrm>
          <a:prstGeom prst="rect">
            <a:avLst/>
          </a:prstGeom>
          <a:noFill/>
          <a:ln w="0">
            <a:noFill/>
          </a:ln>
        </p:spPr>
        <p:txBody>
          <a:bodyPr lIns="91440" tIns="45720" rIns="91440" bIns="45720" anchor="t">
            <a:noAutofit/>
          </a:bodyPr>
          <a:p>
            <a:pPr marL="329040" indent="-255960" algn="l" defTabSz="457200">
              <a:lnSpc>
                <a:spcPct val="98000"/>
              </a:lnSpc>
              <a:spcBef>
                <a:spcPts val="1199"/>
              </a:spcBef>
              <a:buClr>
                <a:srgbClr val="000000"/>
              </a:buClr>
              <a:buSzPct val="85000"/>
              <a:buFont typeface="Arial"/>
              <a:buChar char="•"/>
            </a:pPr>
            <a:r>
              <a:rPr lang="en-US" sz="2200" b="1" u="none" strike="noStrike">
                <a:solidFill>
                  <a:srgbClr val="1F4B70"/>
                </a:solidFill>
                <a:effectLst/>
                <a:uFillTx/>
                <a:latin typeface="Arial"/>
                <a:ea typeface="Arial"/>
              </a:rPr>
              <a:t>Bối cảnh:</a:t>
            </a:r>
            <a:r>
              <a:rPr lang="en-US" sz="2200" b="0" u="none" strike="noStrike">
                <a:solidFill>
                  <a:srgbClr val="000000"/>
                </a:solidFill>
                <a:effectLst/>
                <a:uFillTx/>
                <a:latin typeface="Arial"/>
                <a:ea typeface="Arial"/>
              </a:rPr>
              <a:t> đội kinh doanh có nhiều tài liệu PDF, tra cứu thủ công tốn thời gian.</a:t>
            </a:r>
            <a:endParaRPr lang="en-US" sz="22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200" b="1" u="none" strike="noStrike">
                <a:solidFill>
                  <a:srgbClr val="1F4B70"/>
                </a:solidFill>
                <a:effectLst/>
                <a:uFillTx/>
                <a:latin typeface="Arial"/>
                <a:ea typeface="Arial"/>
              </a:rPr>
              <a:t>Yêu cầu:</a:t>
            </a:r>
            <a:r>
              <a:rPr lang="en-US" sz="2200" b="0" u="none" strike="noStrike">
                <a:solidFill>
                  <a:srgbClr val="000000"/>
                </a:solidFill>
                <a:effectLst/>
                <a:uFillTx/>
                <a:latin typeface="Arial"/>
                <a:ea typeface="Arial"/>
              </a:rPr>
              <a:t> MVP “Chat với tài liệu” — upload PDF, hỏi đáp bằng AI, câu trả lời có trích nguồn.</a:t>
            </a:r>
            <a:endParaRPr lang="en-US" sz="22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200" b="1" u="none" strike="noStrike">
                <a:solidFill>
                  <a:srgbClr val="1F4B70"/>
                </a:solidFill>
                <a:effectLst/>
                <a:uFillTx/>
                <a:latin typeface="Arial"/>
                <a:ea typeface="Arial"/>
              </a:rPr>
              <a:t>Đầu vào hôm nay:</a:t>
            </a:r>
            <a:r>
              <a:rPr lang="en-US" sz="2200" b="0" u="none" strike="noStrike">
                <a:solidFill>
                  <a:srgbClr val="000000"/>
                </a:solidFill>
                <a:effectLst/>
                <a:uFillTx/>
                <a:latin typeface="Arial"/>
                <a:ea typeface="Arial"/>
              </a:rPr>
              <a:t> BRD, SRS/PRD, SAD, user stories + AC trong </a:t>
            </a:r>
            <a:r>
              <a:rPr lang="en-US" sz="2200" b="0" u="none" strike="noStrike">
                <a:solidFill>
                  <a:srgbClr val="006BB9"/>
                </a:solidFill>
                <a:effectLst/>
                <a:uFillTx/>
                <a:latin typeface="Consolas"/>
                <a:ea typeface="Consolas"/>
              </a:rPr>
              <a:t>./docs</a:t>
            </a:r>
            <a:r>
              <a:rPr lang="en-US" sz="2200" b="0" u="none" strike="noStrike">
                <a:solidFill>
                  <a:srgbClr val="000000"/>
                </a:solidFill>
                <a:effectLst/>
                <a:uFillTx/>
                <a:latin typeface="Arial"/>
                <a:ea typeface="Arial"/>
              </a:rPr>
              <a:t>.</a:t>
            </a:r>
            <a:endParaRPr lang="en-US" sz="22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200" b="1" u="none" strike="noStrike">
                <a:solidFill>
                  <a:srgbClr val="1F4B70"/>
                </a:solidFill>
                <a:effectLst/>
                <a:uFillTx/>
                <a:latin typeface="Arial"/>
                <a:ea typeface="Arial"/>
              </a:rPr>
              <a:t>Đầu ra hôm nay:</a:t>
            </a:r>
            <a:r>
              <a:rPr lang="en-US" sz="2200" b="0" u="none" strike="noStrike">
                <a:solidFill>
                  <a:srgbClr val="000000"/>
                </a:solidFill>
                <a:effectLst/>
                <a:uFillTx/>
                <a:latin typeface="Arial"/>
                <a:ea typeface="Arial"/>
              </a:rPr>
              <a:t> MVP chạy được, có test, có CI, có PR được review.</a:t>
            </a:r>
            <a:endParaRPr lang="en-US" sz="22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200" b="1" u="none" strike="noStrike">
                <a:solidFill>
                  <a:srgbClr val="1F4B70"/>
                </a:solidFill>
                <a:effectLst/>
                <a:uFillTx/>
                <a:latin typeface="Arial"/>
                <a:ea typeface="Arial"/>
              </a:rPr>
              <a:t>Nguyên tắc:</a:t>
            </a:r>
            <a:r>
              <a:rPr lang="en-US" sz="2200" b="0" u="none" strike="noStrike">
                <a:solidFill>
                  <a:srgbClr val="000000"/>
                </a:solidFill>
                <a:effectLst/>
                <a:uFillTx/>
                <a:latin typeface="Arial"/>
                <a:ea typeface="Arial"/>
              </a:rPr>
              <a:t> không viết lại đặc tả tại đây. Code phải khớp đặc tả; sai lệch phải lộ ra.</a:t>
            </a:r>
            <a:endParaRPr lang="en-US" sz="22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Picture 3" descr="vti-cover-bg.jpeg"/>
          <p:cNvPicPr/>
          <p:nvPr/>
        </p:nvPicPr>
        <p:blipFill>
          <a:blip r:embed="rId1"/>
          <a:stretch/>
        </p:blipFill>
        <p:spPr>
          <a:xfrm>
            <a:off x="0" y="0"/>
            <a:ext cx="10079640" cy="5657400"/>
          </a:xfrm>
          <a:prstGeom prst="rect">
            <a:avLst/>
          </a:prstGeom>
          <a:noFill/>
          <a:ln w="0">
            <a:noFill/>
          </a:ln>
        </p:spPr>
      </p:pic>
      <p:sp>
        <p:nvSpPr>
          <p:cNvPr id="73"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Ghi nhớ</a:t>
            </a:r>
            <a:endParaRPr lang="en-US" sz="4400" b="0" u="none" strike="noStrike">
              <a:solidFill>
                <a:schemeClr val="dk1"/>
              </a:solidFill>
              <a:effectLst/>
              <a:uFillTx/>
              <a:latin typeface="Calibri"/>
            </a:endParaRPr>
          </a:p>
        </p:txBody>
      </p:sp>
      <p:sp>
        <p:nvSpPr>
          <p:cNvPr id="74" name="TextBox 4"/>
          <p:cNvSpPr/>
          <p:nvPr/>
        </p:nvSpPr>
        <p:spPr>
          <a:xfrm>
            <a:off x="502920" y="1097280"/>
            <a:ext cx="9070560" cy="5025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2400" b="0" u="none" strike="noStrike">
                <a:solidFill>
                  <a:srgbClr val="172C3E"/>
                </a:solidFill>
                <a:effectLst/>
                <a:uFillTx/>
                <a:latin typeface="Arial"/>
                <a:ea typeface="Arial"/>
              </a:rPr>
              <a:t>Quy trình cơ bản của Agentic trong SDLC</a:t>
            </a:r>
            <a:endParaRPr lang="en-US" sz="2400" b="0" u="none" strike="noStrike">
              <a:solidFill>
                <a:srgbClr val="000000"/>
              </a:solidFill>
              <a:effectLst/>
              <a:uFillTx/>
              <a:latin typeface="Arial"/>
            </a:endParaRPr>
          </a:p>
        </p:txBody>
      </p:sp>
      <p:pic>
        <p:nvPicPr>
          <p:cNvPr id="75" name="Picture 5" descr="sdlc-cycle.png"/>
          <p:cNvPicPr/>
          <p:nvPr/>
        </p:nvPicPr>
        <p:blipFill>
          <a:blip r:embed="rId2"/>
          <a:stretch/>
        </p:blipFill>
        <p:spPr>
          <a:xfrm>
            <a:off x="765360" y="1938600"/>
            <a:ext cx="8549280" cy="2120400"/>
          </a:xfrm>
          <a:prstGeom prst="rect">
            <a:avLst/>
          </a:prstGeom>
          <a:noFill/>
          <a:ln w="0">
            <a:noFill/>
          </a:ln>
        </p:spPr>
      </p:pic>
      <p:sp>
        <p:nvSpPr>
          <p:cNvPr id="76" name="TextBox 6"/>
          <p:cNvSpPr/>
          <p:nvPr/>
        </p:nvSpPr>
        <p:spPr>
          <a:xfrm>
            <a:off x="731520" y="4187160"/>
            <a:ext cx="8613360" cy="566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700" b="0" i="1" u="none" strike="noStrike">
                <a:solidFill>
                  <a:srgbClr val="2A6099"/>
                </a:solidFill>
                <a:effectLst/>
                <a:uFillTx/>
                <a:latin typeface="Arial"/>
                <a:ea typeface="Arial"/>
              </a:rPr>
              <a:t>Mỗi user story là một vòng lặp: Specify → Generate → Verify → Refine. Không có bằng chứng thì chưa xong.</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Picture 3" descr="vti-cover-bg.jpeg"/>
          <p:cNvPicPr/>
          <p:nvPr/>
        </p:nvPicPr>
        <p:blipFill>
          <a:blip r:embed="rId1"/>
          <a:stretch/>
        </p:blipFill>
        <p:spPr>
          <a:xfrm>
            <a:off x="0" y="0"/>
            <a:ext cx="10079640" cy="5657400"/>
          </a:xfrm>
          <a:prstGeom prst="rect">
            <a:avLst/>
          </a:prstGeom>
          <a:noFill/>
          <a:ln w="0">
            <a:noFill/>
          </a:ln>
        </p:spPr>
      </p:pic>
      <p:sp>
        <p:nvSpPr>
          <p:cNvPr id="78"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Ghi nhớ</a:t>
            </a:r>
            <a:endParaRPr lang="en-US" sz="4400" b="0" u="none" strike="noStrike">
              <a:solidFill>
                <a:schemeClr val="dk1"/>
              </a:solidFill>
              <a:effectLst/>
              <a:uFillTx/>
              <a:latin typeface="Calibri"/>
            </a:endParaRPr>
          </a:p>
        </p:txBody>
      </p:sp>
      <p:sp>
        <p:nvSpPr>
          <p:cNvPr id="79" name="TextBox 4"/>
          <p:cNvSpPr/>
          <p:nvPr/>
        </p:nvSpPr>
        <p:spPr>
          <a:xfrm>
            <a:off x="502920" y="1097280"/>
            <a:ext cx="9070560" cy="5025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2400" b="0" u="none" strike="noStrike">
                <a:solidFill>
                  <a:srgbClr val="172C3E"/>
                </a:solidFill>
                <a:effectLst/>
                <a:uFillTx/>
                <a:latin typeface="Arial"/>
                <a:ea typeface="Arial"/>
              </a:rPr>
              <a:t>Tháp đảm bảo chất lượng (Quality Assurance Tower)</a:t>
            </a:r>
            <a:endParaRPr lang="en-US" sz="2400" b="0" u="none" strike="noStrike">
              <a:solidFill>
                <a:srgbClr val="000000"/>
              </a:solidFill>
              <a:effectLst/>
              <a:uFillTx/>
              <a:latin typeface="Arial"/>
            </a:endParaRPr>
          </a:p>
        </p:txBody>
      </p:sp>
      <p:pic>
        <p:nvPicPr>
          <p:cNvPr id="80" name="Picture 5" descr="quality-tower.png"/>
          <p:cNvPicPr/>
          <p:nvPr/>
        </p:nvPicPr>
        <p:blipFill>
          <a:blip r:embed="rId2"/>
          <a:stretch/>
        </p:blipFill>
        <p:spPr>
          <a:xfrm>
            <a:off x="1565280" y="1207080"/>
            <a:ext cx="6949080" cy="3881520"/>
          </a:xfrm>
          <a:prstGeom prst="rect">
            <a:avLst/>
          </a:prstGeom>
          <a:noFill/>
          <a:ln w="0">
            <a:noFill/>
          </a:ln>
        </p:spPr>
      </p:pic>
      <p:sp>
        <p:nvSpPr>
          <p:cNvPr id="81" name="TextBox 6"/>
          <p:cNvSpPr/>
          <p:nvPr/>
        </p:nvSpPr>
        <p:spPr>
          <a:xfrm>
            <a:off x="731520" y="5216760"/>
            <a:ext cx="8613360" cy="56664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700" b="0" i="1" u="none" strike="noStrike">
                <a:solidFill>
                  <a:srgbClr val="2A6099"/>
                </a:solidFill>
                <a:effectLst/>
                <a:uFillTx/>
                <a:latin typeface="Arial"/>
                <a:ea typeface="Arial"/>
              </a:rPr>
              <a:t>Code cũng đi qua tháp: tối thiểu L0–L2; rủi ro cao (auth, PII, tiền) lên L3–L4.</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Picture 3" descr="vti-cover-bg.jpeg"/>
          <p:cNvPicPr/>
          <p:nvPr/>
        </p:nvPicPr>
        <p:blipFill>
          <a:blip r:embed="rId1"/>
          <a:stretch/>
        </p:blipFill>
        <p:spPr>
          <a:xfrm>
            <a:off x="0" y="0"/>
            <a:ext cx="10079640" cy="5657400"/>
          </a:xfrm>
          <a:prstGeom prst="rect">
            <a:avLst/>
          </a:prstGeom>
          <a:noFill/>
          <a:ln w="0">
            <a:noFill/>
          </a:ln>
        </p:spPr>
      </p:pic>
      <p:sp>
        <p:nvSpPr>
          <p:cNvPr id="83"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Nhiệm vụ của hôm nay (1/2)</a:t>
            </a:r>
            <a:endParaRPr lang="en-US" sz="4400" b="0" u="none" strike="noStrike">
              <a:solidFill>
                <a:schemeClr val="dk1"/>
              </a:solidFill>
              <a:effectLst/>
              <a:uFillTx/>
              <a:latin typeface="Calibri"/>
            </a:endParaRPr>
          </a:p>
        </p:txBody>
      </p:sp>
      <p:sp>
        <p:nvSpPr>
          <p:cNvPr id="84" name="PlaceHolder 2"/>
          <p:cNvSpPr>
            <a:spLocks noGrp="1"/>
          </p:cNvSpPr>
          <p:nvPr>
            <p:ph/>
          </p:nvPr>
        </p:nvSpPr>
        <p:spPr>
          <a:xfrm>
            <a:off x="502920" y="1325880"/>
            <a:ext cx="9070560" cy="4160160"/>
          </a:xfrm>
          <a:prstGeom prst="rect">
            <a:avLst/>
          </a:prstGeom>
          <a:noFill/>
          <a:ln w="0">
            <a:noFill/>
          </a:ln>
        </p:spPr>
        <p:txBody>
          <a:bodyPr lIns="91440" tIns="45720" rIns="91440" bIns="45720" anchor="t">
            <a:noAutofit/>
          </a:bodyPr>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Đọc </a:t>
            </a:r>
            <a:r>
              <a:rPr lang="en-US" sz="2300" b="0" u="none" strike="noStrike">
                <a:solidFill>
                  <a:srgbClr val="006BB9"/>
                </a:solidFill>
                <a:effectLst/>
                <a:uFillTx/>
                <a:latin typeface="Consolas"/>
                <a:ea typeface="Consolas"/>
              </a:rPr>
              <a:t>./docs</a:t>
            </a:r>
            <a:r>
              <a:rPr lang="en-US" sz="2300" b="0" u="none" strike="noStrike">
                <a:solidFill>
                  <a:srgbClr val="000000"/>
                </a:solidFill>
                <a:effectLst/>
                <a:uFillTx/>
                <a:latin typeface="Arial"/>
                <a:ea typeface="Arial"/>
              </a:rPr>
              <a:t> như nguồn sự thật duy nhất; AC chưa rõ thì dừng lại, không đoán.</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Chốt 2 user stories xương sống: upload PDF; hỏi đáp có trích nguồn.</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Dựng khung: </a:t>
            </a:r>
            <a:r>
              <a:rPr lang="en-US" sz="2300" b="0" u="none" strike="noStrike">
                <a:solidFill>
                  <a:srgbClr val="006BB9"/>
                </a:solidFill>
                <a:effectLst/>
                <a:uFillTx/>
                <a:latin typeface="Consolas"/>
                <a:ea typeface="Consolas"/>
              </a:rPr>
              <a:t>app/</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tests/</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docs/</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AGENTS.md</a:t>
            </a:r>
            <a:r>
              <a:rPr lang="en-US" sz="2300" b="0" u="none" strike="noStrike">
                <a:solidFill>
                  <a:srgbClr val="000000"/>
                </a:solidFill>
                <a:effectLst/>
                <a:uFillTx/>
                <a:latin typeface="Arial"/>
                <a:ea typeface="Arial"/>
              </a:rPr>
              <a:t>, pipeline CI.</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Commit nhỏ; Conventional Commits; gắn mã US/FR trong commit.</a:t>
            </a:r>
            <a:endParaRPr lang="en-US" sz="23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Picture 3" descr="vti-cover-bg.jpeg"/>
          <p:cNvPicPr/>
          <p:nvPr/>
        </p:nvPicPr>
        <p:blipFill>
          <a:blip r:embed="rId1"/>
          <a:stretch/>
        </p:blipFill>
        <p:spPr>
          <a:xfrm>
            <a:off x="0" y="0"/>
            <a:ext cx="10079640" cy="5657400"/>
          </a:xfrm>
          <a:prstGeom prst="rect">
            <a:avLst/>
          </a:prstGeom>
          <a:noFill/>
          <a:ln w="0">
            <a:noFill/>
          </a:ln>
        </p:spPr>
      </p:pic>
      <p:sp>
        <p:nvSpPr>
          <p:cNvPr id="86"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Nhiệm vụ của hôm nay (2/2)</a:t>
            </a:r>
            <a:endParaRPr lang="en-US" sz="4400" b="0" u="none" strike="noStrike">
              <a:solidFill>
                <a:schemeClr val="dk1"/>
              </a:solidFill>
              <a:effectLst/>
              <a:uFillTx/>
              <a:latin typeface="Calibri"/>
            </a:endParaRPr>
          </a:p>
        </p:txBody>
      </p:sp>
      <p:sp>
        <p:nvSpPr>
          <p:cNvPr id="87" name="PlaceHolder 2"/>
          <p:cNvSpPr>
            <a:spLocks noGrp="1"/>
          </p:cNvSpPr>
          <p:nvPr>
            <p:ph/>
          </p:nvPr>
        </p:nvSpPr>
        <p:spPr>
          <a:xfrm>
            <a:off x="502920" y="1325880"/>
            <a:ext cx="9070560" cy="4160160"/>
          </a:xfrm>
          <a:prstGeom prst="rect">
            <a:avLst/>
          </a:prstGeom>
          <a:noFill/>
          <a:ln w="0">
            <a:noFill/>
          </a:ln>
        </p:spPr>
        <p:txBody>
          <a:bodyPr lIns="91440" tIns="45720" rIns="91440" bIns="45720" anchor="t">
            <a:noAutofit/>
          </a:bodyPr>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6BB9"/>
                </a:solidFill>
                <a:effectLst/>
                <a:uFillTx/>
                <a:latin typeface="Consolas"/>
                <a:ea typeface="Consolas"/>
              </a:rPr>
              <a:t>AGENTS.md</a:t>
            </a:r>
            <a:r>
              <a:rPr lang="en-US" sz="2300" b="0" u="none" strike="noStrike">
                <a:solidFill>
                  <a:srgbClr val="000000"/>
                </a:solidFill>
                <a:effectLst/>
                <a:uFillTx/>
                <a:latin typeface="Arial"/>
                <a:ea typeface="Arial"/>
              </a:rPr>
              <a:t>: stack, lệnh cài/chạy/test, quy ước code, điều cấm.</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Skills &amp; commands: </a:t>
            </a:r>
            <a:r>
              <a:rPr lang="en-US" sz="2300" b="0" u="none" strike="noStrike">
                <a:solidFill>
                  <a:srgbClr val="006BB9"/>
                </a:solidFill>
                <a:effectLst/>
                <a:uFillTx/>
                <a:latin typeface="Consolas"/>
                <a:ea typeface="Consolas"/>
              </a:rPr>
              <a:t>/plan-story</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/gen-tests</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/review-diff</a:t>
            </a:r>
            <a:r>
              <a:rPr lang="en-US" sz="2300" b="0" u="none" strike="noStrike">
                <a:solidFill>
                  <a:srgbClr val="000000"/>
                </a:solidFill>
                <a:effectLst/>
                <a:uFillTx/>
                <a:latin typeface="Arial"/>
                <a:ea typeface="Arial"/>
              </a:rPr>
              <a:t>, </a:t>
            </a:r>
            <a:r>
              <a:rPr lang="en-US" sz="2300" b="0" u="none" strike="noStrike">
                <a:solidFill>
                  <a:srgbClr val="006BB9"/>
                </a:solidFill>
                <a:effectLst/>
                <a:uFillTx/>
                <a:latin typeface="Consolas"/>
                <a:ea typeface="Consolas"/>
              </a:rPr>
              <a:t>/fix-ci</a:t>
            </a:r>
            <a:r>
              <a:rPr lang="en-US" sz="2300" b="0" u="none" strike="noStrike">
                <a:solidFill>
                  <a:srgbClr val="000000"/>
                </a:solidFill>
                <a:effectLst/>
                <a:uFillTx/>
                <a:latin typeface="Arial"/>
                <a:ea typeface="Arial"/>
              </a:rPr>
              <a:t>.</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Quyền hạn: agent sửa </a:t>
            </a:r>
            <a:r>
              <a:rPr lang="en-US" sz="2300" b="0" u="none" strike="noStrike">
                <a:solidFill>
                  <a:srgbClr val="006BB9"/>
                </a:solidFill>
                <a:effectLst/>
                <a:uFillTx/>
                <a:latin typeface="Consolas"/>
                <a:ea typeface="Consolas"/>
              </a:rPr>
              <a:t>app/</a:t>
            </a:r>
            <a:r>
              <a:rPr lang="en-US" sz="2300" b="0" u="none" strike="noStrike">
                <a:solidFill>
                  <a:srgbClr val="000000"/>
                </a:solidFill>
                <a:effectLst/>
                <a:uFillTx/>
                <a:latin typeface="Arial"/>
                <a:ea typeface="Arial"/>
              </a:rPr>
              <a:t> và </a:t>
            </a:r>
            <a:r>
              <a:rPr lang="en-US" sz="2300" b="0" u="none" strike="noStrike">
                <a:solidFill>
                  <a:srgbClr val="006BB9"/>
                </a:solidFill>
                <a:effectLst/>
                <a:uFillTx/>
                <a:latin typeface="Consolas"/>
                <a:ea typeface="Consolas"/>
              </a:rPr>
              <a:t>tests/</a:t>
            </a:r>
            <a:r>
              <a:rPr lang="en-US" sz="2300" b="0" u="none" strike="noStrike">
                <a:solidFill>
                  <a:srgbClr val="000000"/>
                </a:solidFill>
                <a:effectLst/>
                <a:uFillTx/>
                <a:latin typeface="Arial"/>
                <a:ea typeface="Arial"/>
              </a:rPr>
              <a:t>; không sửa </a:t>
            </a:r>
            <a:r>
              <a:rPr lang="en-US" sz="2300" b="0" u="none" strike="noStrike">
                <a:solidFill>
                  <a:srgbClr val="006BB9"/>
                </a:solidFill>
                <a:effectLst/>
                <a:uFillTx/>
                <a:latin typeface="Consolas"/>
                <a:ea typeface="Consolas"/>
              </a:rPr>
              <a:t>docs/</a:t>
            </a:r>
            <a:r>
              <a:rPr lang="en-US" sz="2300" b="0" u="none" strike="noStrike">
                <a:solidFill>
                  <a:srgbClr val="000000"/>
                </a:solidFill>
                <a:effectLst/>
                <a:uFillTx/>
                <a:latin typeface="Arial"/>
                <a:ea typeface="Arial"/>
              </a:rPr>
              <a:t> đã baseline.</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Vòng lặp: plan → code → test → review → refine; dừng khi mọi cổng xanh.</a:t>
            </a:r>
            <a:endParaRPr lang="en-US" sz="23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300" b="0" u="none" strike="noStrike">
                <a:solidFill>
                  <a:srgbClr val="000000"/>
                </a:solidFill>
                <a:effectLst/>
                <a:uFillTx/>
                <a:latin typeface="Arial"/>
                <a:ea typeface="Arial"/>
              </a:rPr>
              <a:t>Ghi ADR cho quyết định kiến trúc mới; cập nhật </a:t>
            </a:r>
            <a:r>
              <a:rPr lang="en-US" sz="2300" b="0" u="none" strike="noStrike">
                <a:solidFill>
                  <a:srgbClr val="006BB9"/>
                </a:solidFill>
                <a:effectLst/>
                <a:uFillTx/>
                <a:latin typeface="Consolas"/>
                <a:ea typeface="Consolas"/>
              </a:rPr>
              <a:t>docs/traceability.md</a:t>
            </a:r>
            <a:r>
              <a:rPr lang="en-US" sz="2300" b="0" u="none" strike="noStrike">
                <a:solidFill>
                  <a:srgbClr val="000000"/>
                </a:solidFill>
                <a:effectLst/>
                <a:uFillTx/>
                <a:latin typeface="Arial"/>
                <a:ea typeface="Arial"/>
              </a:rPr>
              <a:t>.</a:t>
            </a:r>
            <a:endParaRPr lang="en-US" sz="23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Picture 3" descr="vti-cover-bg.jpeg"/>
          <p:cNvPicPr/>
          <p:nvPr/>
        </p:nvPicPr>
        <p:blipFill>
          <a:blip r:embed="rId1"/>
          <a:stretch/>
        </p:blipFill>
        <p:spPr>
          <a:xfrm>
            <a:off x="0" y="0"/>
            <a:ext cx="10079640" cy="5657400"/>
          </a:xfrm>
          <a:prstGeom prst="rect">
            <a:avLst/>
          </a:prstGeom>
          <a:noFill/>
          <a:ln w="0">
            <a:noFill/>
          </a:ln>
        </p:spPr>
      </p:pic>
      <p:sp>
        <p:nvSpPr>
          <p:cNvPr id="89"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Cổng chất lượng tự động (L0)</a:t>
            </a:r>
            <a:endParaRPr lang="en-US" sz="4400" b="0" u="none" strike="noStrike">
              <a:solidFill>
                <a:schemeClr val="dk1"/>
              </a:solidFill>
              <a:effectLst/>
              <a:uFillTx/>
              <a:latin typeface="Calibri"/>
            </a:endParaRPr>
          </a:p>
        </p:txBody>
      </p:sp>
      <p:graphicFrame>
        <p:nvGraphicFramePr>
          <p:cNvPr id="90" name="Table 4"/>
          <p:cNvGraphicFramePr/>
          <p:nvPr/>
        </p:nvGraphicFramePr>
        <p:xfrm>
          <a:off x="765360" y="1298520"/>
          <a:ext cx="8549280" cy="3410280"/>
        </p:xfrm>
        <a:graphic>
          <a:graphicData uri="http://schemas.openxmlformats.org/drawingml/2006/table">
            <a:tbl>
              <a:tblPr/>
              <a:tblGrid>
                <a:gridCol w="2240280"/>
                <a:gridCol w="3703320"/>
                <a:gridCol w="2606040"/>
              </a:tblGrid>
              <a:tr h="402120">
                <a:tc>
                  <a:txBody>
                    <a:bodyPr lIns="82080" tIns="27360" rIns="82080" bIns="27360" anchor="ctr">
                      <a:noAutofit/>
                    </a:bodyPr>
                    <a:p>
                      <a:pPr defTabSz="457200">
                        <a:lnSpc>
                          <a:spcPct val="100000"/>
                        </a:lnSpc>
                      </a:pPr>
                      <a:r>
                        <a:rPr lang="en-US" sz="1550" b="1" u="none" strike="noStrike">
                          <a:solidFill>
                            <a:srgbClr val="FFFFFF"/>
                          </a:solidFill>
                          <a:effectLst/>
                          <a:uFillTx/>
                          <a:latin typeface="Arial"/>
                          <a:ea typeface="Arial"/>
                        </a:rPr>
                        <a:t>Cổng</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c>
                  <a:txBody>
                    <a:bodyPr lIns="82080" tIns="27360" rIns="82080" bIns="27360" anchor="ctr">
                      <a:noAutofit/>
                    </a:bodyPr>
                    <a:p>
                      <a:pPr algn="ctr" defTabSz="457200">
                        <a:lnSpc>
                          <a:spcPct val="100000"/>
                        </a:lnSpc>
                      </a:pPr>
                      <a:r>
                        <a:rPr lang="en-US" sz="1550" b="1" u="none" strike="noStrike">
                          <a:solidFill>
                            <a:srgbClr val="FFFFFF"/>
                          </a:solidFill>
                          <a:effectLst/>
                          <a:uFillTx/>
                          <a:latin typeface="Arial"/>
                          <a:ea typeface="Arial"/>
                        </a:rPr>
                        <a:t>Ngưỡng chặn merge</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c>
                  <a:txBody>
                    <a:bodyPr lIns="82080" tIns="27360" rIns="82080" bIns="27360" anchor="ctr">
                      <a:noAutofit/>
                    </a:bodyPr>
                    <a:p>
                      <a:pPr algn="ctr" defTabSz="457200">
                        <a:lnSpc>
                          <a:spcPct val="100000"/>
                        </a:lnSpc>
                      </a:pPr>
                      <a:r>
                        <a:rPr lang="en-US" sz="1550" b="1" u="none" strike="noStrike">
                          <a:solidFill>
                            <a:srgbClr val="FFFFFF"/>
                          </a:solidFill>
                          <a:effectLst/>
                          <a:uFillTx/>
                          <a:latin typeface="Arial"/>
                          <a:ea typeface="Arial"/>
                        </a:rPr>
                        <a:t>Bằng chứng</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Format + lint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0 error, 0 warning mới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log CI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Type check</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0 error</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log CI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Unit + integration test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100% pass; coverage ≥ 70%</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test report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Secret scan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0 secret trong diff</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log scan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Dependency scan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0 CVE high/critical</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SBOM + log</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Build</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reproducible, &lt; 10 phút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artifact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Traceability</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mỗi commit có US/FR</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script check</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Picture 3" descr="vti-cover-bg.jpeg"/>
          <p:cNvPicPr/>
          <p:nvPr/>
        </p:nvPicPr>
        <p:blipFill>
          <a:blip r:embed="rId1"/>
          <a:stretch/>
        </p:blipFill>
        <p:spPr>
          <a:xfrm>
            <a:off x="0" y="0"/>
            <a:ext cx="10079640" cy="5657400"/>
          </a:xfrm>
          <a:prstGeom prst="rect">
            <a:avLst/>
          </a:prstGeom>
          <a:noFill/>
          <a:ln w="0">
            <a:noFill/>
          </a:ln>
        </p:spPr>
      </p:pic>
      <p:sp>
        <p:nvSpPr>
          <p:cNvPr id="92"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Đánh giá chất lượng: L1 và L2</a:t>
            </a:r>
            <a:endParaRPr lang="en-US" sz="4400" b="0" u="none" strike="noStrike">
              <a:solidFill>
                <a:schemeClr val="dk1"/>
              </a:solidFill>
              <a:effectLst/>
              <a:uFillTx/>
              <a:latin typeface="Calibri"/>
            </a:endParaRPr>
          </a:p>
        </p:txBody>
      </p:sp>
      <p:sp>
        <p:nvSpPr>
          <p:cNvPr id="93" name="Rounded Rectangle 4"/>
          <p:cNvSpPr/>
          <p:nvPr/>
        </p:nvSpPr>
        <p:spPr>
          <a:xfrm>
            <a:off x="658440" y="1371600"/>
            <a:ext cx="4114440" cy="3062880"/>
          </a:xfrm>
          <a:prstGeom prst="roundRect">
            <a:avLst>
              <a:gd name="adj" fmla="val 5500"/>
            </a:avLst>
          </a:prstGeom>
          <a:solidFill>
            <a:srgbClr val="EEF5FB"/>
          </a:solidFill>
          <a:ln w="12700">
            <a:solidFill>
              <a:srgbClr val="C9DC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 name="Rounded Rectangle 5"/>
          <p:cNvSpPr/>
          <p:nvPr/>
        </p:nvSpPr>
        <p:spPr>
          <a:xfrm>
            <a:off x="658440" y="1371600"/>
            <a:ext cx="4114440" cy="456840"/>
          </a:xfrm>
          <a:prstGeom prst="roundRect">
            <a:avLst>
              <a:gd name="adj" fmla="val 12000"/>
            </a:avLst>
          </a:prstGeom>
          <a:solidFill>
            <a:srgbClr val="2A609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0" rIns="73080" bIns="0" anchor="ctr">
            <a:noAutofit/>
          </a:bodyPr>
          <a:p>
            <a:pPr algn="ctr" defTabSz="457200">
              <a:lnSpc>
                <a:spcPct val="100000"/>
              </a:lnSpc>
            </a:pPr>
            <a:r>
              <a:rPr lang="en-US" sz="1900" b="1" u="none" strike="noStrike">
                <a:solidFill>
                  <a:srgbClr val="FFFFFF"/>
                </a:solidFill>
                <a:effectLst/>
                <a:uFillTx/>
                <a:latin typeface="Arial"/>
                <a:ea typeface="Arial"/>
              </a:rPr>
              <a:t>L1 · Agent review (advisory)</a:t>
            </a:r>
            <a:endParaRPr lang="en-US" sz="1900" b="0" u="none" strike="noStrike">
              <a:solidFill>
                <a:srgbClr val="FFFFFF"/>
              </a:solidFill>
              <a:effectLst/>
              <a:uFillTx/>
              <a:latin typeface="Arial"/>
            </a:endParaRPr>
          </a:p>
        </p:txBody>
      </p:sp>
      <p:sp>
        <p:nvSpPr>
          <p:cNvPr id="95" name="TextBox 6"/>
          <p:cNvSpPr/>
          <p:nvPr/>
        </p:nvSpPr>
        <p:spPr>
          <a:xfrm>
            <a:off x="804600" y="1974960"/>
            <a:ext cx="3821760" cy="2349720"/>
          </a:xfrm>
          <a:prstGeom prst="rect">
            <a:avLst/>
          </a:prstGeom>
          <a:noFill/>
          <a:ln w="0">
            <a:noFill/>
          </a:ln>
        </p:spPr>
        <p:style>
          <a:lnRef idx="0"/>
          <a:fillRef idx="0"/>
          <a:effectRef idx="0"/>
          <a:fontRef idx="minor"/>
        </p:style>
        <p:txBody>
          <a:bodyPr lIns="0" tIns="0" rIns="0" bIns="0" anchor="t">
            <a:spAutoFit/>
          </a:bodyPr>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Review theo rubric, không theo cảm tính.</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Mỗi comment phải trích dẫn dòng bị lỗi.</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Chạy trên diff; không có quyền merge.</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Được đề xuất sửa — không được approve.</a:t>
            </a:r>
            <a:endParaRPr lang="en-US" sz="1700" b="0" u="none" strike="noStrike">
              <a:solidFill>
                <a:srgbClr val="000000"/>
              </a:solidFill>
              <a:effectLst/>
              <a:uFillTx/>
              <a:latin typeface="Arial"/>
            </a:endParaRPr>
          </a:p>
        </p:txBody>
      </p:sp>
      <p:sp>
        <p:nvSpPr>
          <p:cNvPr id="96" name="Rounded Rectangle 7"/>
          <p:cNvSpPr/>
          <p:nvPr/>
        </p:nvSpPr>
        <p:spPr>
          <a:xfrm>
            <a:off x="5303520" y="1371600"/>
            <a:ext cx="4114440" cy="3062880"/>
          </a:xfrm>
          <a:prstGeom prst="roundRect">
            <a:avLst>
              <a:gd name="adj" fmla="val 5500"/>
            </a:avLst>
          </a:prstGeom>
          <a:solidFill>
            <a:srgbClr val="EEF5FB"/>
          </a:solidFill>
          <a:ln w="12700">
            <a:solidFill>
              <a:srgbClr val="C9DC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ounded Rectangle 8"/>
          <p:cNvSpPr/>
          <p:nvPr/>
        </p:nvSpPr>
        <p:spPr>
          <a:xfrm>
            <a:off x="5303520" y="1371600"/>
            <a:ext cx="4114440" cy="456840"/>
          </a:xfrm>
          <a:prstGeom prst="roundRect">
            <a:avLst>
              <a:gd name="adj" fmla="val 12000"/>
            </a:avLst>
          </a:prstGeom>
          <a:solidFill>
            <a:srgbClr val="1F4B7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0" rIns="73080" bIns="0" anchor="ctr">
            <a:noAutofit/>
          </a:bodyPr>
          <a:p>
            <a:pPr algn="ctr" defTabSz="457200">
              <a:lnSpc>
                <a:spcPct val="100000"/>
              </a:lnSpc>
            </a:pPr>
            <a:r>
              <a:rPr lang="en-US" sz="1900" b="1" u="none" strike="noStrike">
                <a:solidFill>
                  <a:srgbClr val="FFFFFF"/>
                </a:solidFill>
                <a:effectLst/>
                <a:uFillTx/>
                <a:latin typeface="Arial"/>
                <a:ea typeface="Arial"/>
              </a:rPr>
              <a:t>L2 · Human review (bắt buộc)</a:t>
            </a:r>
            <a:endParaRPr lang="en-US" sz="1900" b="0" u="none" strike="noStrike">
              <a:solidFill>
                <a:srgbClr val="FFFFFF"/>
              </a:solidFill>
              <a:effectLst/>
              <a:uFillTx/>
              <a:latin typeface="Arial"/>
            </a:endParaRPr>
          </a:p>
        </p:txBody>
      </p:sp>
      <p:sp>
        <p:nvSpPr>
          <p:cNvPr id="98" name="TextBox 9"/>
          <p:cNvSpPr/>
          <p:nvPr/>
        </p:nvSpPr>
        <p:spPr>
          <a:xfrm>
            <a:off x="5449680" y="1974960"/>
            <a:ext cx="3821760" cy="1868760"/>
          </a:xfrm>
          <a:prstGeom prst="rect">
            <a:avLst/>
          </a:prstGeom>
          <a:noFill/>
          <a:ln w="0">
            <a:noFill/>
          </a:ln>
        </p:spPr>
        <p:style>
          <a:lnRef idx="0"/>
          <a:fillRef idx="0"/>
          <a:effectRef idx="0"/>
          <a:fontRef idx="minor"/>
        </p:style>
        <p:txBody>
          <a:bodyPr lIns="0" tIns="0" rIns="0" bIns="0" anchor="t">
            <a:spAutoFit/>
          </a:bodyPr>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1 approver không phải người viết code.</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Đọc diff, không đọc tóm tắt.</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Hỏi: test này chứng minh AC nào?</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Comment phân loại blocker / major / minor.</a:t>
            </a:r>
            <a:endParaRPr lang="en-US" sz="1700" b="0" u="none" strike="noStrike">
              <a:solidFill>
                <a:srgbClr val="000000"/>
              </a:solidFill>
              <a:effectLst/>
              <a:uFillTx/>
              <a:latin typeface="Arial"/>
            </a:endParaRPr>
          </a:p>
        </p:txBody>
      </p:sp>
      <p:sp>
        <p:nvSpPr>
          <p:cNvPr id="99" name="TextBox 10"/>
          <p:cNvSpPr/>
          <p:nvPr/>
        </p:nvSpPr>
        <p:spPr>
          <a:xfrm>
            <a:off x="658440" y="4736520"/>
            <a:ext cx="8759520" cy="51156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600" b="0" i="1" u="none" strike="noStrike">
                <a:solidFill>
                  <a:srgbClr val="2A6099"/>
                </a:solidFill>
                <a:effectLst/>
                <a:uFillTx/>
                <a:latin typeface="Arial"/>
                <a:ea typeface="Arial"/>
              </a:rPr>
              <a:t>Artifact: PR + checklist + log CI + quyết định approve. Không có artifact = chưa review.</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3" descr="vti-cover-bg.jpeg"/>
          <p:cNvPicPr/>
          <p:nvPr/>
        </p:nvPicPr>
        <p:blipFill>
          <a:blip r:embed="rId1"/>
          <a:stretch/>
        </p:blipFill>
        <p:spPr>
          <a:xfrm>
            <a:off x="0" y="0"/>
            <a:ext cx="10079640" cy="5657400"/>
          </a:xfrm>
          <a:prstGeom prst="rect">
            <a:avLst/>
          </a:prstGeom>
          <a:noFill/>
          <a:ln w="0">
            <a:noFill/>
          </a:ln>
        </p:spPr>
      </p:pic>
      <p:sp>
        <p:nvSpPr>
          <p:cNvPr id="101"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000" b="0" u="none" strike="noStrike">
                <a:solidFill>
                  <a:srgbClr val="2A6099"/>
                </a:solidFill>
                <a:effectLst/>
                <a:uFillTx/>
                <a:latin typeface="Arial"/>
                <a:ea typeface="Arial"/>
              </a:rPr>
              <a:t>Rubric review code (0–2 mỗi tiêu chí)</a:t>
            </a:r>
            <a:endParaRPr lang="en-US" sz="4000" b="0" u="none" strike="noStrike">
              <a:solidFill>
                <a:schemeClr val="dk1"/>
              </a:solidFill>
              <a:effectLst/>
              <a:uFillTx/>
              <a:latin typeface="Calibri"/>
            </a:endParaRPr>
          </a:p>
        </p:txBody>
      </p:sp>
      <p:graphicFrame>
        <p:nvGraphicFramePr>
          <p:cNvPr id="102" name="Table 4"/>
          <p:cNvGraphicFramePr/>
          <p:nvPr/>
        </p:nvGraphicFramePr>
        <p:xfrm>
          <a:off x="742320" y="1298520"/>
          <a:ext cx="8595000" cy="3444480"/>
        </p:xfrm>
        <a:graphic>
          <a:graphicData uri="http://schemas.openxmlformats.org/drawingml/2006/table">
            <a:tbl>
              <a:tblPr/>
              <a:tblGrid>
                <a:gridCol w="1691640"/>
                <a:gridCol w="2240280"/>
                <a:gridCol w="2331720"/>
                <a:gridCol w="2331720"/>
              </a:tblGrid>
              <a:tr h="402120">
                <a:tc>
                  <a:txBody>
                    <a:bodyPr lIns="82080" tIns="27360" rIns="82080" bIns="27360" anchor="ctr">
                      <a:noAutofit/>
                    </a:bodyPr>
                    <a:p>
                      <a:pPr defTabSz="457200">
                        <a:lnSpc>
                          <a:spcPct val="100000"/>
                        </a:lnSpc>
                      </a:pPr>
                      <a:r>
                        <a:rPr lang="en-US" sz="1550" b="1" u="none" strike="noStrike">
                          <a:solidFill>
                            <a:srgbClr val="FFFFFF"/>
                          </a:solidFill>
                          <a:effectLst/>
                          <a:uFillTx/>
                          <a:latin typeface="Arial"/>
                          <a:ea typeface="Arial"/>
                        </a:rPr>
                        <a:t>Tiêu chí</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c>
                  <a:txBody>
                    <a:bodyPr lIns="82080" tIns="27360" rIns="82080" bIns="27360" anchor="ctr">
                      <a:noAutofit/>
                    </a:bodyPr>
                    <a:p>
                      <a:pPr algn="ctr" defTabSz="457200">
                        <a:lnSpc>
                          <a:spcPct val="100000"/>
                        </a:lnSpc>
                      </a:pPr>
                      <a:r>
                        <a:rPr lang="en-US" sz="1550" b="1" u="none" strike="noStrike">
                          <a:solidFill>
                            <a:srgbClr val="FFFFFF"/>
                          </a:solidFill>
                          <a:effectLst/>
                          <a:uFillTx/>
                          <a:latin typeface="Arial"/>
                          <a:ea typeface="Arial"/>
                        </a:rPr>
                        <a:t>0</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c>
                  <a:txBody>
                    <a:bodyPr lIns="82080" tIns="27360" rIns="82080" bIns="27360" anchor="ctr">
                      <a:noAutofit/>
                    </a:bodyPr>
                    <a:p>
                      <a:pPr algn="ctr" defTabSz="457200">
                        <a:lnSpc>
                          <a:spcPct val="100000"/>
                        </a:lnSpc>
                      </a:pPr>
                      <a:r>
                        <a:rPr lang="en-US" sz="1550" b="1" u="none" strike="noStrike">
                          <a:solidFill>
                            <a:srgbClr val="FFFFFF"/>
                          </a:solidFill>
                          <a:effectLst/>
                          <a:uFillTx/>
                          <a:latin typeface="Arial"/>
                          <a:ea typeface="Arial"/>
                        </a:rPr>
                        <a:t>1</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c>
                  <a:txBody>
                    <a:bodyPr lIns="82080" tIns="27360" rIns="82080" bIns="27360" anchor="ctr">
                      <a:noAutofit/>
                    </a:bodyPr>
                    <a:p>
                      <a:pPr algn="ctr" defTabSz="457200">
                        <a:lnSpc>
                          <a:spcPct val="100000"/>
                        </a:lnSpc>
                      </a:pPr>
                      <a:r>
                        <a:rPr lang="en-US" sz="1550" b="1" u="none" strike="noStrike">
                          <a:solidFill>
                            <a:srgbClr val="FFFFFF"/>
                          </a:solidFill>
                          <a:effectLst/>
                          <a:uFillTx/>
                          <a:latin typeface="Arial"/>
                          <a:ea typeface="Arial"/>
                        </a:rPr>
                        <a:t>2</a:t>
                      </a:r>
                      <a:endParaRPr lang="en-US" sz="1550" b="0" u="none" strike="noStrike">
                        <a:solidFill>
                          <a:srgbClr val="FFFFFF"/>
                        </a:solidFill>
                        <a:effectLst/>
                        <a:uFillTx/>
                        <a:latin typeface="Arial"/>
                      </a:endParaRPr>
                    </a:p>
                  </a:txBody>
                  <a:tcPr anchor="ctr" marL="82080" marR="82080" marT="27360" marB="27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A6099"/>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Đúng AC</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Thiếu/sai AC</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Đủ AC, thiếu edge case</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Đủ AC + edge + lỗi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Test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Không có/không chạy</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Có, phủ happy path</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Phủ AC + edge + âm</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Thiết kế</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Trộn trách nhiệm</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Tách module, còn phụ thuộc</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Ranh giới rõ, dễ thay</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An toàn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Lộ secret/injection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Có kiểm tra cơ bản</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Validate + quyền + log</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Hiệu năng</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Không đo</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Có đo, chưa ngưỡng</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Có ngưỡng + test tải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Dễ đọc</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Tên mơ hồ, hàm dài</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Rõ trong file</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Rõ + comment “vì sao”</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29480">
                <a:tc>
                  <a:txBody>
                    <a:bodyPr lIns="82080" tIns="22680" rIns="82080" bIns="22680" anchor="ctr">
                      <a:noAutofit/>
                    </a:bodyPr>
                    <a:p>
                      <a:pPr defTabSz="457200">
                        <a:lnSpc>
                          <a:spcPct val="95000"/>
                        </a:lnSpc>
                      </a:pPr>
                      <a:r>
                        <a:rPr lang="en-US" sz="1450" b="1" u="none" strike="noStrike">
                          <a:solidFill>
                            <a:srgbClr val="172C3E"/>
                          </a:solidFill>
                          <a:effectLst/>
                          <a:uFillTx/>
                          <a:latin typeface="Arial"/>
                          <a:ea typeface="Arial"/>
                        </a:rPr>
                        <a:t>Truy vết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Không mã US/FR</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Có trong commit/PR</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c>
                  <a:txBody>
                    <a:bodyPr lIns="82080" tIns="22680" rIns="82080" bIns="22680" anchor="ctr">
                      <a:noAutofit/>
                    </a:bodyPr>
                    <a:p>
                      <a:pPr algn="ctr" defTabSz="457200">
                        <a:lnSpc>
                          <a:spcPct val="95000"/>
                        </a:lnSpc>
                      </a:pPr>
                      <a:r>
                        <a:rPr lang="en-US" sz="1450" b="0" u="none" strike="noStrike">
                          <a:solidFill>
                            <a:srgbClr val="172C3E"/>
                          </a:solidFill>
                          <a:effectLst/>
                          <a:uFillTx/>
                          <a:latin typeface="Arial"/>
                          <a:ea typeface="Arial"/>
                        </a:rPr>
                        <a:t>US ↔ code ↔ test</a:t>
                      </a:r>
                      <a:endParaRPr lang="en-US" sz="1450" b="0" u="none" strike="noStrike">
                        <a:solidFill>
                          <a:srgbClr val="000000"/>
                        </a:solidFill>
                        <a:effectLst/>
                        <a:uFillTx/>
                        <a:latin typeface="Arial"/>
                      </a:endParaRPr>
                    </a:p>
                  </a:txBody>
                  <a:tcPr anchor="ctr" marL="82080" marR="82080" marT="22680" marB="22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EF5FB"/>
                    </a:solidFill>
                  </a:tcPr>
                </a:tc>
              </a:tr>
            </a:tbl>
          </a:graphicData>
        </a:graphic>
      </p:graphicFrame>
      <p:sp>
        <p:nvSpPr>
          <p:cNvPr id="103" name="TextBox 5"/>
          <p:cNvSpPr/>
          <p:nvPr/>
        </p:nvSpPr>
        <p:spPr>
          <a:xfrm>
            <a:off x="658440" y="4956120"/>
            <a:ext cx="8777880" cy="47520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1500" b="0" i="1" u="none" strike="noStrike">
                <a:solidFill>
                  <a:srgbClr val="2A6099"/>
                </a:solidFill>
                <a:effectLst/>
                <a:uFillTx/>
                <a:latin typeface="Arial"/>
                <a:ea typeface="Arial"/>
              </a:rPr>
              <a:t>≥ 10/14 mới merge; bất kỳ mục nào 0 điểm là blocker, bất kể tổng điểm.</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3" descr="vti-cover-bg.jpeg"/>
          <p:cNvPicPr/>
          <p:nvPr/>
        </p:nvPicPr>
        <p:blipFill>
          <a:blip r:embed="rId1"/>
          <a:stretch/>
        </p:blipFill>
        <p:spPr>
          <a:xfrm>
            <a:off x="0" y="0"/>
            <a:ext cx="10079640" cy="5657400"/>
          </a:xfrm>
          <a:prstGeom prst="rect">
            <a:avLst/>
          </a:prstGeom>
          <a:noFill/>
          <a:ln w="0">
            <a:noFill/>
          </a:ln>
        </p:spPr>
      </p:pic>
      <p:sp>
        <p:nvSpPr>
          <p:cNvPr id="105"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Đo chất lượng và cái bẫy</a:t>
            </a:r>
            <a:endParaRPr lang="en-US" sz="4400" b="0" u="none" strike="noStrike">
              <a:solidFill>
                <a:schemeClr val="dk1"/>
              </a:solidFill>
              <a:effectLst/>
              <a:uFillTx/>
              <a:latin typeface="Calibri"/>
            </a:endParaRPr>
          </a:p>
        </p:txBody>
      </p:sp>
      <p:sp>
        <p:nvSpPr>
          <p:cNvPr id="106" name="Rounded Rectangle 4"/>
          <p:cNvSpPr/>
          <p:nvPr/>
        </p:nvSpPr>
        <p:spPr>
          <a:xfrm>
            <a:off x="658440" y="1371600"/>
            <a:ext cx="4114440" cy="3062880"/>
          </a:xfrm>
          <a:prstGeom prst="roundRect">
            <a:avLst>
              <a:gd name="adj" fmla="val 5500"/>
            </a:avLst>
          </a:prstGeom>
          <a:solidFill>
            <a:srgbClr val="EEF5FB"/>
          </a:solidFill>
          <a:ln w="12700">
            <a:solidFill>
              <a:srgbClr val="C9DC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Rounded Rectangle 5"/>
          <p:cNvSpPr/>
          <p:nvPr/>
        </p:nvSpPr>
        <p:spPr>
          <a:xfrm>
            <a:off x="658440" y="1371600"/>
            <a:ext cx="4114440" cy="456840"/>
          </a:xfrm>
          <a:prstGeom prst="roundRect">
            <a:avLst>
              <a:gd name="adj" fmla="val 12000"/>
            </a:avLst>
          </a:prstGeom>
          <a:solidFill>
            <a:srgbClr val="2A609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0" rIns="73080" bIns="0" anchor="ctr">
            <a:noAutofit/>
          </a:bodyPr>
          <a:p>
            <a:pPr algn="ctr" defTabSz="457200">
              <a:lnSpc>
                <a:spcPct val="100000"/>
              </a:lnSpc>
            </a:pPr>
            <a:r>
              <a:rPr lang="en-US" sz="1900" b="1" u="none" strike="noStrike">
                <a:solidFill>
                  <a:srgbClr val="FFFFFF"/>
                </a:solidFill>
                <a:effectLst/>
                <a:uFillTx/>
                <a:latin typeface="Arial"/>
                <a:ea typeface="Arial"/>
              </a:rPr>
              <a:t>Chỉ số đáng theo dõi</a:t>
            </a:r>
            <a:endParaRPr lang="en-US" sz="1900" b="0" u="none" strike="noStrike">
              <a:solidFill>
                <a:srgbClr val="FFFFFF"/>
              </a:solidFill>
              <a:effectLst/>
              <a:uFillTx/>
              <a:latin typeface="Arial"/>
            </a:endParaRPr>
          </a:p>
        </p:txBody>
      </p:sp>
      <p:sp>
        <p:nvSpPr>
          <p:cNvPr id="108" name="TextBox 6"/>
          <p:cNvSpPr/>
          <p:nvPr/>
        </p:nvSpPr>
        <p:spPr>
          <a:xfrm>
            <a:off x="804600" y="1974960"/>
            <a:ext cx="3821760" cy="1868760"/>
          </a:xfrm>
          <a:prstGeom prst="rect">
            <a:avLst/>
          </a:prstGeom>
          <a:noFill/>
          <a:ln w="0">
            <a:noFill/>
          </a:ln>
        </p:spPr>
        <p:style>
          <a:lnRef idx="0"/>
          <a:fillRef idx="0"/>
          <a:effectRef idx="0"/>
          <a:fontRef idx="minor"/>
        </p:style>
        <p:txBody>
          <a:bodyPr lIns="0" tIns="0" rIns="0" bIns="0" anchor="t">
            <a:spAutoFit/>
          </a:bodyPr>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Coverage ≥ 70%; mutation score ≥ 60% ở module lõi.</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Độ phức tạp ≤ 10; trùng lặp &lt; 3%.</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0 secret, 0 CVE high/critical.</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Escaped defects: lỗi lọt review, theo tháng.</a:t>
            </a:r>
            <a:endParaRPr lang="en-US" sz="1700" b="0" u="none" strike="noStrike">
              <a:solidFill>
                <a:srgbClr val="000000"/>
              </a:solidFill>
              <a:effectLst/>
              <a:uFillTx/>
              <a:latin typeface="Arial"/>
            </a:endParaRPr>
          </a:p>
        </p:txBody>
      </p:sp>
      <p:sp>
        <p:nvSpPr>
          <p:cNvPr id="109" name="Rounded Rectangle 7"/>
          <p:cNvSpPr/>
          <p:nvPr/>
        </p:nvSpPr>
        <p:spPr>
          <a:xfrm>
            <a:off x="5303520" y="1371600"/>
            <a:ext cx="4114440" cy="3062880"/>
          </a:xfrm>
          <a:prstGeom prst="roundRect">
            <a:avLst>
              <a:gd name="adj" fmla="val 5500"/>
            </a:avLst>
          </a:prstGeom>
          <a:solidFill>
            <a:srgbClr val="EEF5FB"/>
          </a:solidFill>
          <a:ln w="12700">
            <a:solidFill>
              <a:srgbClr val="C9DCF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Rounded Rectangle 8"/>
          <p:cNvSpPr/>
          <p:nvPr/>
        </p:nvSpPr>
        <p:spPr>
          <a:xfrm>
            <a:off x="5303520" y="1371600"/>
            <a:ext cx="4114440" cy="456840"/>
          </a:xfrm>
          <a:prstGeom prst="roundRect">
            <a:avLst>
              <a:gd name="adj" fmla="val 12000"/>
            </a:avLst>
          </a:prstGeom>
          <a:solidFill>
            <a:srgbClr val="1F4B7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0" rIns="73080" bIns="0" anchor="ctr">
            <a:noAutofit/>
          </a:bodyPr>
          <a:p>
            <a:pPr algn="ctr" defTabSz="457200">
              <a:lnSpc>
                <a:spcPct val="100000"/>
              </a:lnSpc>
            </a:pPr>
            <a:r>
              <a:rPr lang="en-US" sz="1900" b="1" u="none" strike="noStrike">
                <a:solidFill>
                  <a:srgbClr val="FFFFFF"/>
                </a:solidFill>
                <a:effectLst/>
                <a:uFillTx/>
                <a:latin typeface="Arial"/>
                <a:ea typeface="Arial"/>
              </a:rPr>
              <a:t>Ảo giác chất lượng</a:t>
            </a:r>
            <a:endParaRPr lang="en-US" sz="1900" b="0" u="none" strike="noStrike">
              <a:solidFill>
                <a:srgbClr val="FFFFFF"/>
              </a:solidFill>
              <a:effectLst/>
              <a:uFillTx/>
              <a:latin typeface="Arial"/>
            </a:endParaRPr>
          </a:p>
        </p:txBody>
      </p:sp>
      <p:sp>
        <p:nvSpPr>
          <p:cNvPr id="111" name="TextBox 9"/>
          <p:cNvSpPr/>
          <p:nvPr/>
        </p:nvSpPr>
        <p:spPr>
          <a:xfrm>
            <a:off x="5449680" y="1974960"/>
            <a:ext cx="3821760" cy="1500120"/>
          </a:xfrm>
          <a:prstGeom prst="rect">
            <a:avLst/>
          </a:prstGeom>
          <a:noFill/>
          <a:ln w="0">
            <a:noFill/>
          </a:ln>
        </p:spPr>
        <p:style>
          <a:lnRef idx="0"/>
          <a:fillRef idx="0"/>
          <a:effectRef idx="0"/>
          <a:fontRef idx="minor"/>
        </p:style>
        <p:txBody>
          <a:bodyPr lIns="0" tIns="0" rIns="0" bIns="0" anchor="t">
            <a:spAutoFit/>
          </a:bodyPr>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Test viết theo code, không theo AC.</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Mock mọi thứ → test xanh, tích hợp gãy.</a:t>
            </a:r>
            <a:endParaRPr lang="en-US" sz="1700" b="0" u="none" strike="noStrike">
              <a:solidFill>
                <a:srgbClr val="000000"/>
              </a:solidFill>
              <a:effectLst/>
              <a:uFillTx/>
              <a:latin typeface="Arial"/>
            </a:endParaRPr>
          </a:p>
          <a:p>
            <a:pPr marL="329040" indent="-255960" defTabSz="457200">
              <a:lnSpc>
                <a:spcPct val="98000"/>
              </a:lnSpc>
              <a:spcBef>
                <a:spcPts val="901"/>
              </a:spcBef>
              <a:buClr>
                <a:srgbClr val="006BB9"/>
              </a:buClr>
              <a:buSzPct val="85000"/>
              <a:buFont typeface="Arial"/>
              <a:buChar char="•"/>
            </a:pPr>
            <a:r>
              <a:rPr lang="en-US" sz="1700" b="0" u="none" strike="noStrike">
                <a:solidFill>
                  <a:srgbClr val="000000"/>
                </a:solidFill>
                <a:effectLst/>
                <a:uFillTx/>
                <a:latin typeface="Arial"/>
                <a:ea typeface="Arial"/>
              </a:rPr>
              <a:t>Agent sửa test cho pass thay vì sửa code.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Picture 3" descr="vti-cover-bg.jpeg"/>
          <p:cNvPicPr/>
          <p:nvPr/>
        </p:nvPicPr>
        <p:blipFill>
          <a:blip r:embed="rId1"/>
          <a:stretch/>
        </p:blipFill>
        <p:spPr>
          <a:xfrm>
            <a:off x="0" y="0"/>
            <a:ext cx="10079640" cy="5657400"/>
          </a:xfrm>
          <a:prstGeom prst="rect">
            <a:avLst/>
          </a:prstGeom>
          <a:noFill/>
          <a:ln w="0">
            <a:noFill/>
          </a:ln>
        </p:spPr>
      </p:pic>
      <p:sp>
        <p:nvSpPr>
          <p:cNvPr id="113"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Definition of Done</a:t>
            </a:r>
            <a:endParaRPr lang="en-US" sz="4400" b="0" u="none" strike="noStrike">
              <a:solidFill>
                <a:schemeClr val="dk1"/>
              </a:solidFill>
              <a:effectLst/>
              <a:uFillTx/>
              <a:latin typeface="Calibri"/>
            </a:endParaRPr>
          </a:p>
        </p:txBody>
      </p:sp>
      <p:sp>
        <p:nvSpPr>
          <p:cNvPr id="114" name="PlaceHolder 2"/>
          <p:cNvSpPr>
            <a:spLocks noGrp="1"/>
          </p:cNvSpPr>
          <p:nvPr>
            <p:ph/>
          </p:nvPr>
        </p:nvSpPr>
        <p:spPr>
          <a:xfrm>
            <a:off x="502920" y="1325880"/>
            <a:ext cx="9070560" cy="4160160"/>
          </a:xfrm>
          <a:prstGeom prst="rect">
            <a:avLst/>
          </a:prstGeom>
          <a:noFill/>
          <a:ln w="0">
            <a:noFill/>
          </a:ln>
        </p:spPr>
        <p:txBody>
          <a:bodyPr lIns="91440" tIns="45720" rIns="91440" bIns="45720" anchor="t">
            <a:noAutofit/>
          </a:bodyPr>
          <a:p>
            <a:pPr marL="329040" indent="-255960" algn="l" defTabSz="457200">
              <a:lnSpc>
                <a:spcPct val="98000"/>
              </a:lnSpc>
              <a:spcBef>
                <a:spcPts val="1199"/>
              </a:spcBef>
              <a:buClr>
                <a:srgbClr val="000000"/>
              </a:buClr>
              <a:buSzPct val="85000"/>
              <a:buFont typeface="Arial"/>
              <a:buChar char="•"/>
            </a:pPr>
            <a:r>
              <a:rPr lang="en-US" sz="2100" b="0" u="none" strike="noStrike">
                <a:solidFill>
                  <a:srgbClr val="000000"/>
                </a:solidFill>
                <a:effectLst/>
                <a:uFillTx/>
                <a:latin typeface="Arial"/>
                <a:ea typeface="Arial"/>
              </a:rPr>
              <a:t>Chạy được bằng 1 lệnh; README 5 dòng: cài, cấu hình, chạy, test.</a:t>
            </a:r>
            <a:endParaRPr lang="en-US" sz="21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100" b="0" u="none" strike="noStrike">
                <a:solidFill>
                  <a:srgbClr val="000000"/>
                </a:solidFill>
                <a:effectLst/>
                <a:uFillTx/>
                <a:latin typeface="Arial"/>
                <a:ea typeface="Arial"/>
              </a:rPr>
              <a:t>100% AC của 2 user stories có test tự động; coverage ≥ 70%.</a:t>
            </a:r>
            <a:endParaRPr lang="en-US" sz="21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100" b="0" u="none" strike="noStrike">
                <a:solidFill>
                  <a:srgbClr val="000000"/>
                </a:solidFill>
                <a:effectLst/>
                <a:uFillTx/>
                <a:latin typeface="Arial"/>
                <a:ea typeface="Arial"/>
              </a:rPr>
              <a:t>CI xanh: lint, type, test, build, secret scan.</a:t>
            </a:r>
            <a:endParaRPr lang="en-US" sz="21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100" b="0" u="none" strike="noStrike">
                <a:solidFill>
                  <a:srgbClr val="000000"/>
                </a:solidFill>
                <a:effectLst/>
                <a:uFillTx/>
                <a:latin typeface="Arial"/>
                <a:ea typeface="Arial"/>
              </a:rPr>
              <a:t>1 approver không phải người viết, checklist đã tick.</a:t>
            </a:r>
            <a:endParaRPr lang="en-US" sz="2100" b="0" u="none" strike="noStrike">
              <a:solidFill>
                <a:schemeClr val="dk1"/>
              </a:solidFill>
              <a:effectLst/>
              <a:uFillTx/>
              <a:latin typeface="Calibri"/>
            </a:endParaRPr>
          </a:p>
          <a:p>
            <a:pPr marL="329040" indent="-255960" algn="l" defTabSz="457200">
              <a:lnSpc>
                <a:spcPct val="98000"/>
              </a:lnSpc>
              <a:spcBef>
                <a:spcPts val="1199"/>
              </a:spcBef>
              <a:buClr>
                <a:srgbClr val="000000"/>
              </a:buClr>
              <a:buSzPct val="85000"/>
              <a:buFont typeface="Arial"/>
              <a:buChar char="•"/>
            </a:pPr>
            <a:r>
              <a:rPr lang="en-US" sz="2100" b="0" u="none" strike="noStrike">
                <a:solidFill>
                  <a:srgbClr val="006BB9"/>
                </a:solidFill>
                <a:effectLst/>
                <a:uFillTx/>
                <a:latin typeface="Consolas"/>
                <a:ea typeface="Consolas"/>
              </a:rPr>
              <a:t>docs/traceability.md</a:t>
            </a:r>
            <a:r>
              <a:rPr lang="en-US" sz="2100" b="0" u="none" strike="noStrike">
                <a:solidFill>
                  <a:srgbClr val="000000"/>
                </a:solidFill>
                <a:effectLst/>
                <a:uFillTx/>
                <a:latin typeface="Arial"/>
                <a:ea typeface="Arial"/>
              </a:rPr>
              <a:t>: US ↔ FR ↔ code ↔ test.</a:t>
            </a:r>
            <a:endParaRPr lang="en-US" sz="21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Picture 3" descr="vti-cover-bg.jpeg"/>
          <p:cNvPicPr/>
          <p:nvPr/>
        </p:nvPicPr>
        <p:blipFill>
          <a:blip r:embed="rId1"/>
          <a:stretch/>
        </p:blipFill>
        <p:spPr>
          <a:xfrm>
            <a:off x="0" y="0"/>
            <a:ext cx="10079640" cy="5657400"/>
          </a:xfrm>
          <a:prstGeom prst="rect">
            <a:avLst/>
          </a:prstGeom>
          <a:noFill/>
          <a:ln w="0">
            <a:noFill/>
          </a:ln>
        </p:spPr>
      </p:pic>
      <p:sp>
        <p:nvSpPr>
          <p:cNvPr id="116" name="PlaceHolder 1"/>
          <p:cNvSpPr>
            <a:spLocks noGrp="1"/>
          </p:cNvSpPr>
          <p:nvPr>
            <p:ph type="title"/>
          </p:nvPr>
        </p:nvSpPr>
        <p:spPr>
          <a:xfrm>
            <a:off x="502920" y="225720"/>
            <a:ext cx="9070560" cy="946080"/>
          </a:xfrm>
          <a:prstGeom prst="rect">
            <a:avLst/>
          </a:prstGeom>
          <a:noFill/>
          <a:ln w="0">
            <a:noFill/>
          </a:ln>
        </p:spPr>
        <p:txBody>
          <a:bodyPr lIns="91440" tIns="45720" rIns="91440" bIns="45720" anchor="ctr">
            <a:noAutofit/>
          </a:bodyPr>
          <a:p>
            <a:pPr indent="0" algn="ctr" defTabSz="457200">
              <a:lnSpc>
                <a:spcPct val="100000"/>
              </a:lnSpc>
              <a:buNone/>
            </a:pPr>
            <a:r>
              <a:rPr lang="en-US" sz="4400" b="0" u="none" strike="noStrike">
                <a:solidFill>
                  <a:srgbClr val="2A6099"/>
                </a:solidFill>
                <a:effectLst/>
                <a:uFillTx/>
                <a:latin typeface="Arial"/>
                <a:ea typeface="Arial"/>
              </a:rPr>
              <a:t>Tham khảo</a:t>
            </a:r>
            <a:endParaRPr lang="en-US" sz="4400" b="0" u="none" strike="noStrike">
              <a:solidFill>
                <a:schemeClr val="dk1"/>
              </a:solidFill>
              <a:effectLst/>
              <a:uFillTx/>
              <a:latin typeface="Calibri"/>
            </a:endParaRPr>
          </a:p>
        </p:txBody>
      </p:sp>
      <p:sp>
        <p:nvSpPr>
          <p:cNvPr id="117" name="TextBox 4"/>
          <p:cNvSpPr/>
          <p:nvPr/>
        </p:nvSpPr>
        <p:spPr>
          <a:xfrm>
            <a:off x="658440" y="1536120"/>
            <a:ext cx="2468520" cy="548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50" b="1" u="none" strike="noStrike">
                <a:solidFill>
                  <a:srgbClr val="1F4B70"/>
                </a:solidFill>
                <a:effectLst/>
                <a:uFillTx/>
                <a:latin typeface="Arial"/>
                <a:ea typeface="Arial"/>
              </a:rPr>
              <a:t>Prompt &amp; checklist:</a:t>
            </a:r>
            <a:endParaRPr lang="en-US" sz="1750" b="0" u="none" strike="noStrike">
              <a:solidFill>
                <a:srgbClr val="000000"/>
              </a:solidFill>
              <a:effectLst/>
              <a:uFillTx/>
              <a:latin typeface="Arial"/>
            </a:endParaRPr>
          </a:p>
        </p:txBody>
      </p:sp>
      <p:sp>
        <p:nvSpPr>
          <p:cNvPr id="118" name="TextBox 5"/>
          <p:cNvSpPr/>
          <p:nvPr/>
        </p:nvSpPr>
        <p:spPr>
          <a:xfrm>
            <a:off x="3063240" y="1536120"/>
            <a:ext cx="6309000" cy="77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rgbClr val="172C3E"/>
                </a:solidFill>
                <a:effectLst/>
                <a:uFillTx/>
                <a:latin typeface="Arial"/>
                <a:ea typeface="Arial"/>
              </a:rPr>
              <a:t>https://github.com/minhtrantrong/SDLC-Prompt-Checklist.git</a:t>
            </a:r>
            <a:endParaRPr lang="en-US" sz="1650" b="0" u="none" strike="noStrike">
              <a:solidFill>
                <a:srgbClr val="000000"/>
              </a:solidFill>
              <a:effectLst/>
              <a:uFillTx/>
              <a:latin typeface="Arial"/>
            </a:endParaRPr>
          </a:p>
        </p:txBody>
      </p:sp>
      <p:sp>
        <p:nvSpPr>
          <p:cNvPr id="119" name="TextBox 6"/>
          <p:cNvSpPr/>
          <p:nvPr/>
        </p:nvSpPr>
        <p:spPr>
          <a:xfrm>
            <a:off x="658440" y="2432160"/>
            <a:ext cx="2468520" cy="548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50" b="1" u="none" strike="noStrike">
                <a:solidFill>
                  <a:srgbClr val="1F4B70"/>
                </a:solidFill>
                <a:effectLst/>
                <a:uFillTx/>
                <a:latin typeface="Arial"/>
                <a:ea typeface="Arial"/>
              </a:rPr>
              <a:t>Hồ sơ dự án:</a:t>
            </a:r>
            <a:endParaRPr lang="en-US" sz="1750" b="0" u="none" strike="noStrike">
              <a:solidFill>
                <a:srgbClr val="000000"/>
              </a:solidFill>
              <a:effectLst/>
              <a:uFillTx/>
              <a:latin typeface="Arial"/>
            </a:endParaRPr>
          </a:p>
        </p:txBody>
      </p:sp>
      <p:sp>
        <p:nvSpPr>
          <p:cNvPr id="120" name="TextBox 7"/>
          <p:cNvSpPr/>
          <p:nvPr/>
        </p:nvSpPr>
        <p:spPr>
          <a:xfrm>
            <a:off x="3063240" y="2432160"/>
            <a:ext cx="6309000" cy="77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0" u="none" strike="noStrike">
                <a:solidFill>
                  <a:srgbClr val="172C3E"/>
                </a:solidFill>
                <a:effectLst/>
                <a:uFillTx/>
                <a:latin typeface="Arial"/>
                <a:ea typeface="Arial"/>
              </a:rPr>
              <a:t>./docs — BRD, SRS/PRD, SAD, user stories, sơ đồ.</a:t>
            </a:r>
            <a:endParaRPr lang="en-US" sz="1900" b="0" u="none" strike="noStrike">
              <a:solidFill>
                <a:srgbClr val="000000"/>
              </a:solidFill>
              <a:effectLst/>
              <a:uFillTx/>
              <a:latin typeface="Arial"/>
            </a:endParaRPr>
          </a:p>
        </p:txBody>
      </p:sp>
      <p:sp>
        <p:nvSpPr>
          <p:cNvPr id="121" name="TextBox 8"/>
          <p:cNvSpPr/>
          <p:nvPr/>
        </p:nvSpPr>
        <p:spPr>
          <a:xfrm>
            <a:off x="658440" y="3328560"/>
            <a:ext cx="2468520" cy="548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50" b="1" u="none" strike="noStrike">
                <a:solidFill>
                  <a:srgbClr val="1F4B70"/>
                </a:solidFill>
                <a:effectLst/>
                <a:uFillTx/>
                <a:latin typeface="Arial"/>
                <a:ea typeface="Arial"/>
              </a:rPr>
              <a:t>Chuẩn tham chiếu:</a:t>
            </a:r>
            <a:endParaRPr lang="en-US" sz="1750" b="0" u="none" strike="noStrike">
              <a:solidFill>
                <a:srgbClr val="000000"/>
              </a:solidFill>
              <a:effectLst/>
              <a:uFillTx/>
              <a:latin typeface="Arial"/>
            </a:endParaRPr>
          </a:p>
        </p:txBody>
      </p:sp>
      <p:sp>
        <p:nvSpPr>
          <p:cNvPr id="122" name="TextBox 9"/>
          <p:cNvSpPr/>
          <p:nvPr/>
        </p:nvSpPr>
        <p:spPr>
          <a:xfrm>
            <a:off x="3063240" y="3328560"/>
            <a:ext cx="6309000" cy="77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0" u="none" strike="noStrike">
                <a:solidFill>
                  <a:srgbClr val="172C3E"/>
                </a:solidFill>
                <a:effectLst/>
                <a:uFillTx/>
                <a:latin typeface="Arial"/>
                <a:ea typeface="Arial"/>
              </a:rPr>
              <a:t>ISO/IEC 25010 (chất lượng sản phẩm), IEEE 1028 (review), ISO/IEC/IEEE 29119 (test).</a:t>
            </a:r>
            <a:endParaRPr lang="en-US" sz="1900" b="0" u="none" strike="noStrike">
              <a:solidFill>
                <a:srgbClr val="000000"/>
              </a:solidFill>
              <a:effectLst/>
              <a:uFillTx/>
              <a:latin typeface="Arial"/>
            </a:endParaRPr>
          </a:p>
        </p:txBody>
      </p:sp>
      <p:sp>
        <p:nvSpPr>
          <p:cNvPr id="123" name="TextBox 10"/>
          <p:cNvSpPr/>
          <p:nvPr/>
        </p:nvSpPr>
        <p:spPr>
          <a:xfrm>
            <a:off x="658440" y="4224600"/>
            <a:ext cx="2468520" cy="5482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750" b="1" u="none" strike="noStrike">
                <a:solidFill>
                  <a:srgbClr val="1F4B70"/>
                </a:solidFill>
                <a:effectLst/>
                <a:uFillTx/>
                <a:latin typeface="Arial"/>
                <a:ea typeface="Arial"/>
              </a:rPr>
              <a:t>Bài đọc:</a:t>
            </a:r>
            <a:endParaRPr lang="en-US" sz="1750" b="0" u="none" strike="noStrike">
              <a:solidFill>
                <a:srgbClr val="000000"/>
              </a:solidFill>
              <a:effectLst/>
              <a:uFillTx/>
              <a:latin typeface="Arial"/>
            </a:endParaRPr>
          </a:p>
        </p:txBody>
      </p:sp>
      <p:sp>
        <p:nvSpPr>
          <p:cNvPr id="124" name="TextBox 11"/>
          <p:cNvSpPr/>
          <p:nvPr/>
        </p:nvSpPr>
        <p:spPr>
          <a:xfrm>
            <a:off x="3063240" y="4224600"/>
            <a:ext cx="6309000" cy="7768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900" b="0" u="none" strike="noStrike">
                <a:solidFill>
                  <a:srgbClr val="172C3E"/>
                </a:solidFill>
                <a:effectLst/>
                <a:uFillTx/>
                <a:latin typeface="Arial"/>
                <a:ea typeface="Arial"/>
              </a:rPr>
              <a:t>The AI-native SDLC playbook — phần build, review và test.</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59</TotalTime>
  <Application>LibreOffice/26.2.6.3$Windows_X86_64 LibreOffice_project/8221e31b3ac356a1623c672912a3d2b492f7e3d1</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VTI Academy</dc:creator>
  <dc:description>generated using python-pptx</dc:description>
  <dc:language>en-US</dc:language>
  <cp:lastModifiedBy/>
  <dcterms:modified xsi:type="dcterms:W3CDTF">2026-10-21T19:14:46Z</dcterms:modified>
  <cp:revision>2</cp:revision>
  <dc:subject>Agentic AI in SDLC — Day 5</dc:subject>
  <dc:title>Day 5 — Agentic AI trong pha Phát triển mã nguồn &amp; Đánh giá chất lượng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